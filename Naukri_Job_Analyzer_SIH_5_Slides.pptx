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384048"/>
          </a:xfrm>
          <a:prstGeom prst="roundRect">
            <a:avLst/>
          </a:prstGeom>
          <a:solidFill>
            <a:srgbClr val="0E1E3E"/>
          </a:solidFill>
          <a:ln w="12700">
            <a:solidFill>
              <a:srgbClr val="0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SMART INDIA HACKATHON (SIH) FORMAT  •  WEB SCRAPING &amp;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rial"/>
              </a:defRPr>
            </a:pPr>
            <a:r>
              <a:t>Naukri.com IT Job Vacancy &amp;</a:t>
            </a:r>
            <a:br/>
            <a:r>
              <a:t>Salary Trend Analyzer</a:t>
            </a:r>
          </a:p>
          <a:p>
            <a:pPr>
              <a:spcBef>
                <a:spcPts val="800"/>
              </a:spcBef>
              <a:defRPr sz="1400" b="1">
                <a:solidFill>
                  <a:srgbClr val="F59E0B"/>
                </a:solidFill>
                <a:latin typeface="Arial"/>
              </a:defRPr>
            </a:pPr>
            <a:r>
              <a:t>Automated Web Scraping, Compensation Analytics &amp; Career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2542032" cy="320040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WEB SCRAPING &amp; INGESTION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Requests + BeautifulSoup4 + Selenium (Headless Chrome)</a:t>
            </a:r>
            <a:br/>
            <a:r>
              <a:t>Dynamic DOM extraction &amp; live progress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3017520"/>
            <a:ext cx="2542032" cy="320040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DATA NORMALIZATION &amp; STATS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Pandas + NumPy + Regex (re)</a:t>
            </a:r>
            <a:br/>
            <a:r>
              <a:t>Unstructured text to numeric LPA &amp; experience floats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017520"/>
            <a:ext cx="2542032" cy="320040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DATA VISUALIZATION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Plotly.js + Matplotlib / Plotly Python SDK</a:t>
            </a:r>
            <a:br/>
            <a:r>
              <a:t>8 Interactive charts: Bar, Donut, Histograms, Scatter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3017520"/>
            <a:ext cx="2542032" cy="320040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0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100" b="1">
                <a:solidFill>
                  <a:srgbClr val="0084FF"/>
                </a:solidFill>
                <a:latin typeface="Arial"/>
              </a:defRPr>
            </a:pPr>
            <a:r>
              <a:t>DATABASE &amp; FULL-STACK UX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SQLite3 (B-Tree Indexed) + Flask + Tailwind CSS</a:t>
            </a:r>
            <a:br/>
            <a:r>
              <a:t>REST APIs, CRUD administration, CSV/Excel/PDF exports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DOMAIN: WEB SCRAPING &amp;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 &amp;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⚠️ THE INDUSTRY PROBLEM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Salary Opacity &amp; Inconsistency: Compensation strings on Naukri are unstructured (e.g. '12-25 Lacs PA', '15,00,000 - 25,00,000 PA', 'Not Disclosed'), preventing standardized comparison.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Geographic Disparities: Major tech hubs (Bengaluru, Hyderabad, Pune, Delhi NCR, Mumbai) feature drastically different hiring volumes and compensation brackets.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Skill-to-Wage Disconnect: Job seekers lack aggregated visibility into which programming languages and cloud stacks command higher salary premiums.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• Manual Inefficiency: Manually browsing hundreds of pages on job portals is tedious, unscalable, and prone to subjective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493776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💡 OUR PROPOSED SOLUTION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✔ Automated Ingestion Engine: Headless Selenium + BeautifulSoup4 extracts real-time vacancies, companies, salaries, locations, and tech tags on demand.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✔ Algorithmic Normalization: Custom regex parser standardizes all textual salary strings into numeric LPA (Lakhs Per Annum) and years of experience.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✔ Executive Career Intelligence: LinkedIn-Analytics styled dashboard featuring 8+ interactive Plotly.js charts and live KPI metric summary cards.</a:t>
            </a:r>
          </a:p>
          <a:p>
            <a:pPr>
              <a:spcBef>
                <a:spcPts val="1200"/>
              </a:spcBef>
              <a:defRPr sz="1050">
                <a:solidFill>
                  <a:srgbClr val="CBD5E1"/>
                </a:solidFill>
              </a:defRPr>
            </a:pPr>
            <a:r>
              <a:t>✔ Full Governance &amp; Export: SQLite database with CRUD administration and 1-click multi-format report exports (CSV, Excel .xlsx, and PDF).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DESIGN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Technical Architecture &amp; 4-Stage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42032" cy="292608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STAGE 1: EXTRACTION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Requests + BS4 + Selenium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Headless Chrome engine</a:t>
            </a:r>
            <a:br/>
            <a:r>
              <a:t>• Dynamic JavaScript scrolling</a:t>
            </a:r>
            <a:br/>
            <a:r>
              <a:t>• Thread-safe progress tracking</a:t>
            </a:r>
            <a:br/>
            <a:r>
              <a:t>• Fallback dataset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463040"/>
            <a:ext cx="2542032" cy="292608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STAGE 2: NORMALIZATION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Regex + Pandas + NumPy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Regex LPA parser algorithm</a:t>
            </a:r>
            <a:br/>
            <a:r>
              <a:t>• Experience range parsing</a:t>
            </a:r>
            <a:br/>
            <a:r>
              <a:t>• Location hub standardization</a:t>
            </a:r>
            <a:br/>
            <a:r>
              <a:t>• Missing value imputation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42032" cy="292608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STAGE 3: PERSISTENCE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SQLite3 Relational DB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14 Structured table attributes</a:t>
            </a:r>
            <a:br/>
            <a:r>
              <a:t>• Composite B-Tree indexing</a:t>
            </a:r>
            <a:br/>
            <a:r>
              <a:t>• Fast indexed search queries</a:t>
            </a:r>
            <a:br/>
            <a:r>
              <a:t>• 1-Click sample data seeder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463040"/>
            <a:ext cx="2542032" cy="292608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0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64592" rIns="164592"/>
          <a:lstStyle/>
          <a:p>
            <a:pPr algn="ctr">
              <a:defRPr sz="1100" b="1">
                <a:solidFill>
                  <a:srgbClr val="0084FF"/>
                </a:solidFill>
              </a:defRPr>
            </a:pPr>
            <a:r>
              <a:t>STAGE 4: VISUALIZATION</a:t>
            </a:r>
          </a:p>
          <a:p>
            <a:pPr>
              <a:spcBef>
                <a:spcPts val="400"/>
              </a:spcBef>
              <a:defRPr sz="950" b="1">
                <a:solidFill>
                  <a:srgbClr val="F8FAFC"/>
                </a:solidFill>
              </a:defRPr>
            </a:pPr>
            <a:r>
              <a:t>Plotly.js + Flask + UI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8 Interactive Plotly charts</a:t>
            </a:r>
            <a:br/>
            <a:r>
              <a:t>• Asynchronous JSON delivery</a:t>
            </a:r>
            <a:br/>
            <a:r>
              <a:t>• Dual Dark/Light theme mode</a:t>
            </a:r>
            <a:br/>
            <a:r>
              <a:t>• CSV / Excel / PDF exports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828800"/>
          </a:xfrm>
          <a:prstGeom prst="roundRect">
            <a:avLst/>
          </a:prstGeom>
          <a:solidFill>
            <a:srgbClr val="0E1C36"/>
          </a:solidFill>
          <a:ln w="12700">
            <a:solidFill>
              <a:srgbClr val="26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CORE ALGORITHMIC HIGHLIGHT: REGEX SALARY &amp; LOCATION NORMALIZATION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• Salary Parsing: '18-30 Lacs PA' -&gt; min_salary: 18.0 LPA | max_salary: 30.0 LPA | avg_salary: 24.0 LPA (Handles Lacs, Lakhs, Crores, &amp; Numeric INR)</a:t>
            </a:r>
            <a:br/>
            <a:r>
              <a:t>• Location Normalization: 'Bengaluru/Bangalore' -&gt; 'Bengaluru' | 'Gurgaon/Gurugram/Noida' -&gt; 'Delhi NCR' | Standardizes 8 major tech hubs</a:t>
            </a:r>
            <a:br/>
            <a:r>
              <a:t>• Performance Optimization: B-Tree indexes on avg_salary, min_exp, location, and company deliver sub-millisecond query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IMPLEMENTATION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Features &amp; System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📊 INTERACTIVE EXECUTIVE DASHBOARD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Live KPI Metric Cards: Total Jobs, Active Companies, Avg LPA, Top Skill, Remote Share.</a:t>
            </a:r>
            <a:br/>
            <a:r>
              <a:t>• 8 Plotly.js Visualizations: City Share, Company Ranking, Salary Histogram, Experience Donut, Top Skills, Work Mode Split, Salary vs. Exp Scatter, Role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463040"/>
            <a:ext cx="5212080" cy="233172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🔍 LIVE SCRAPING CONSOLE &amp; LOGS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Customizable Search: Target role, location, experience bracket, and page depth.</a:t>
            </a:r>
            <a:br/>
            <a:r>
              <a:t>• Real-Time Progress Modal: Streaming percentage progress, page status, and scrolling execution logs via thread-safe ScrapingProgress tracker.</a:t>
            </a:r>
            <a:br/>
            <a:r>
              <a:t>• Built-in fallback dataset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33172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📂 JOB DIRECTORY &amp; MULTI-EXPORTERS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Filterable &amp; Paginated Directory: Real-time search by role, company, city, and skills.</a:t>
            </a:r>
            <a:br/>
            <a:r>
              <a:t>• Multi-Format Data Export: Instant 1-click download in CSV, formatted Excel (.xlsx) workbook, or print-ready executive PDF report with direct apply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3977639"/>
            <a:ext cx="5212080" cy="233172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00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defRPr sz="1150" b="1">
                <a:solidFill>
                  <a:srgbClr val="0084FF"/>
                </a:solidFill>
              </a:defRPr>
            </a:pPr>
            <a:r>
              <a:t>⚙️ DATABASE CRUD &amp; MODERN UI/UX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Database Administration: Add job modal, inline edit modal, single delete, wipe all, and seed dataset.</a:t>
            </a:r>
            <a:br/>
            <a:r>
              <a:t>• Modern Frontend: Tailwind CSS Glassmorphic design, dual Light/Dark theme with localStorage persistence, mobile slide-out drawer, and 6/6 test pass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VALUE PROPOSITION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Innovation, Impact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9000" cy="493776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01168" rIns="201168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🚀 CORE INNOVATIONS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Automated LPA Normalization: Algorithmic conversion of chaotic, non-standard text strings into standardized quantitative benchmarks.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Asynchronous Plotly Pipeline: Zero-latency JSON chart serialization allowing instant re-rendering across dark and light themes.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Resilient Fallback Engine: Continuous analytics availability even when external portal anti-scraping filters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63040"/>
            <a:ext cx="3429000" cy="493776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01168" rIns="20116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🎯 IMPACT &amp; BENEFICIARIES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IT Job Seekers &amp; Students: Accurately benchmark market compensation, discover top-paying tech stacks, and target hiring hubs.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Tech Recruiters &amp; HR Teams: Analyze competitor compensation structures and real-time demand for specialized roles.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Academic Institutions: Align university curriculums and training with live market industry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463040"/>
            <a:ext cx="3429000" cy="4937760"/>
          </a:xfrm>
          <a:prstGeom prst="roundRect">
            <a:avLst/>
          </a:prstGeom>
          <a:solidFill>
            <a:srgbClr val="1223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01168" rIns="20116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🔮 FUTURE ROADMAP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Phase 1: AI Resume Matcher: Integrate LLM embeddings to automatically score and match user resumes against live scraped vacancies.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Phase 2: Predictive Salary ML: Train Scikit-Learn regression models to forecast expected compensation based on candidate tech skill portfolios.</a:t>
            </a:r>
          </a:p>
          <a:p>
            <a:pPr>
              <a:spcBef>
                <a:spcPts val="1400"/>
              </a:spcBef>
              <a:defRPr sz="950">
                <a:solidFill>
                  <a:srgbClr val="CBD5E1"/>
                </a:solidFill>
              </a:defRPr>
            </a:pPr>
            <a:r>
              <a:t>• Phase 3: Multi-Portal Scaling: Expand connectors to LinkedIn, Indeed, and Glassdoor for aggregated job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